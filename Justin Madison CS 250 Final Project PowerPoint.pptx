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Lst>
  <p:sldIdLst>
    <p:sldId id="256" r:id="rId2"/>
    <p:sldId id="257" r:id="rId3"/>
    <p:sldId id="259" r:id="rId4"/>
    <p:sldId id="260" r:id="rId5"/>
    <p:sldId id="261" r:id="rId6"/>
    <p:sldId id="258"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ABD358-A4AE-44FF-B18E-AA38BFAFF4D2}" v="19" dt="2026-10-18T22:42:21.4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0" d="100"/>
          <a:sy n="90" d="100"/>
        </p:scale>
        <p:origin x="37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stin madison" userId="79b333eaa59e46cf" providerId="LiveId" clId="{03CA0B1C-680E-4381-AA0A-33177EE1D1D3}"/>
    <pc:docChg chg="undo custSel addSld modSld">
      <pc:chgData name="justin madison" userId="79b333eaa59e46cf" providerId="LiveId" clId="{03CA0B1C-680E-4381-AA0A-33177EE1D1D3}" dt="2026-10-18T22:54:36.902" v="7036" actId="20577"/>
      <pc:docMkLst>
        <pc:docMk/>
      </pc:docMkLst>
      <pc:sldChg chg="modSp new mod">
        <pc:chgData name="justin madison" userId="79b333eaa59e46cf" providerId="LiveId" clId="{03CA0B1C-680E-4381-AA0A-33177EE1D1D3}" dt="2026-10-18T20:20:23.754" v="66" actId="20577"/>
        <pc:sldMkLst>
          <pc:docMk/>
          <pc:sldMk cId="54705795" sldId="256"/>
        </pc:sldMkLst>
        <pc:spChg chg="mod">
          <ac:chgData name="justin madison" userId="79b333eaa59e46cf" providerId="LiveId" clId="{03CA0B1C-680E-4381-AA0A-33177EE1D1D3}" dt="2026-10-18T20:20:15.111" v="43" actId="20577"/>
          <ac:spMkLst>
            <pc:docMk/>
            <pc:sldMk cId="54705795" sldId="256"/>
            <ac:spMk id="2" creationId="{E0A6CA3A-5E30-762F-F691-9F62B1C4BA96}"/>
          </ac:spMkLst>
        </pc:spChg>
        <pc:spChg chg="mod">
          <ac:chgData name="justin madison" userId="79b333eaa59e46cf" providerId="LiveId" clId="{03CA0B1C-680E-4381-AA0A-33177EE1D1D3}" dt="2026-10-18T20:20:23.754" v="66" actId="20577"/>
          <ac:spMkLst>
            <pc:docMk/>
            <pc:sldMk cId="54705795" sldId="256"/>
            <ac:spMk id="3" creationId="{6F297B2B-9EAF-3711-69B3-B2979FD2FC5B}"/>
          </ac:spMkLst>
        </pc:spChg>
      </pc:sldChg>
      <pc:sldChg chg="modSp new mod">
        <pc:chgData name="justin madison" userId="79b333eaa59e46cf" providerId="LiveId" clId="{03CA0B1C-680E-4381-AA0A-33177EE1D1D3}" dt="2026-10-18T20:32:20.087" v="853" actId="27636"/>
        <pc:sldMkLst>
          <pc:docMk/>
          <pc:sldMk cId="2555324958" sldId="257"/>
        </pc:sldMkLst>
        <pc:spChg chg="mod">
          <ac:chgData name="justin madison" userId="79b333eaa59e46cf" providerId="LiveId" clId="{03CA0B1C-680E-4381-AA0A-33177EE1D1D3}" dt="2026-10-18T20:21:00.524" v="92" actId="14100"/>
          <ac:spMkLst>
            <pc:docMk/>
            <pc:sldMk cId="2555324958" sldId="257"/>
            <ac:spMk id="2" creationId="{659075C3-3172-EFCA-790D-2120320F795A}"/>
          </ac:spMkLst>
        </pc:spChg>
        <pc:spChg chg="mod">
          <ac:chgData name="justin madison" userId="79b333eaa59e46cf" providerId="LiveId" clId="{03CA0B1C-680E-4381-AA0A-33177EE1D1D3}" dt="2026-10-18T20:32:20.087" v="853" actId="27636"/>
          <ac:spMkLst>
            <pc:docMk/>
            <pc:sldMk cId="2555324958" sldId="257"/>
            <ac:spMk id="3" creationId="{AAEEFE47-932E-E61E-FDB4-B0E10B3FE22D}"/>
          </ac:spMkLst>
        </pc:spChg>
      </pc:sldChg>
      <pc:sldChg chg="modSp new mod">
        <pc:chgData name="justin madison" userId="79b333eaa59e46cf" providerId="LiveId" clId="{03CA0B1C-680E-4381-AA0A-33177EE1D1D3}" dt="2026-10-18T22:17:41.237" v="6359" actId="27636"/>
        <pc:sldMkLst>
          <pc:docMk/>
          <pc:sldMk cId="3341180574" sldId="258"/>
        </pc:sldMkLst>
        <pc:spChg chg="mod">
          <ac:chgData name="justin madison" userId="79b333eaa59e46cf" providerId="LiveId" clId="{03CA0B1C-680E-4381-AA0A-33177EE1D1D3}" dt="2026-10-18T20:23:32.889" v="108" actId="20577"/>
          <ac:spMkLst>
            <pc:docMk/>
            <pc:sldMk cId="3341180574" sldId="258"/>
            <ac:spMk id="2" creationId="{2C7467B0-4DCC-FC27-DBB8-F0E0955E483D}"/>
          </ac:spMkLst>
        </pc:spChg>
        <pc:spChg chg="mod">
          <ac:chgData name="justin madison" userId="79b333eaa59e46cf" providerId="LiveId" clId="{03CA0B1C-680E-4381-AA0A-33177EE1D1D3}" dt="2026-10-18T22:17:41.237" v="6359" actId="27636"/>
          <ac:spMkLst>
            <pc:docMk/>
            <pc:sldMk cId="3341180574" sldId="258"/>
            <ac:spMk id="3" creationId="{04C447CD-511D-40AE-54C7-AF5785BAAAEE}"/>
          </ac:spMkLst>
        </pc:spChg>
      </pc:sldChg>
      <pc:sldChg chg="modSp new mod">
        <pc:chgData name="justin madison" userId="79b333eaa59e46cf" providerId="LiveId" clId="{03CA0B1C-680E-4381-AA0A-33177EE1D1D3}" dt="2026-10-18T22:48:36.106" v="6957" actId="14100"/>
        <pc:sldMkLst>
          <pc:docMk/>
          <pc:sldMk cId="2257424136" sldId="259"/>
        </pc:sldMkLst>
        <pc:spChg chg="mod">
          <ac:chgData name="justin madison" userId="79b333eaa59e46cf" providerId="LiveId" clId="{03CA0B1C-680E-4381-AA0A-33177EE1D1D3}" dt="2026-10-18T20:35:47.247" v="868" actId="14100"/>
          <ac:spMkLst>
            <pc:docMk/>
            <pc:sldMk cId="2257424136" sldId="259"/>
            <ac:spMk id="2" creationId="{11A998A2-9B22-40CA-CE97-7EBBA1524E6E}"/>
          </ac:spMkLst>
        </pc:spChg>
        <pc:spChg chg="mod">
          <ac:chgData name="justin madison" userId="79b333eaa59e46cf" providerId="LiveId" clId="{03CA0B1C-680E-4381-AA0A-33177EE1D1D3}" dt="2026-10-18T22:48:36.106" v="6957" actId="14100"/>
          <ac:spMkLst>
            <pc:docMk/>
            <pc:sldMk cId="2257424136" sldId="259"/>
            <ac:spMk id="3" creationId="{B3225C14-0E5F-D561-33B4-2EE5B120F613}"/>
          </ac:spMkLst>
        </pc:spChg>
      </pc:sldChg>
      <pc:sldChg chg="modSp new mod">
        <pc:chgData name="justin madison" userId="79b333eaa59e46cf" providerId="LiveId" clId="{03CA0B1C-680E-4381-AA0A-33177EE1D1D3}" dt="2026-10-18T22:48:32.099" v="6956" actId="14100"/>
        <pc:sldMkLst>
          <pc:docMk/>
          <pc:sldMk cId="1314140373" sldId="260"/>
        </pc:sldMkLst>
        <pc:spChg chg="mod">
          <ac:chgData name="justin madison" userId="79b333eaa59e46cf" providerId="LiveId" clId="{03CA0B1C-680E-4381-AA0A-33177EE1D1D3}" dt="2026-10-18T21:19:12.733" v="2604" actId="20577"/>
          <ac:spMkLst>
            <pc:docMk/>
            <pc:sldMk cId="1314140373" sldId="260"/>
            <ac:spMk id="2" creationId="{95573402-D1CA-5D23-074F-85D47C0CC999}"/>
          </ac:spMkLst>
        </pc:spChg>
        <pc:spChg chg="mod">
          <ac:chgData name="justin madison" userId="79b333eaa59e46cf" providerId="LiveId" clId="{03CA0B1C-680E-4381-AA0A-33177EE1D1D3}" dt="2026-10-18T22:48:32.099" v="6956" actId="14100"/>
          <ac:spMkLst>
            <pc:docMk/>
            <pc:sldMk cId="1314140373" sldId="260"/>
            <ac:spMk id="3" creationId="{BC77B7B4-F1F6-BD3D-718A-2061E45A41AD}"/>
          </ac:spMkLst>
        </pc:spChg>
      </pc:sldChg>
      <pc:sldChg chg="modSp new mod">
        <pc:chgData name="justin madison" userId="79b333eaa59e46cf" providerId="LiveId" clId="{03CA0B1C-680E-4381-AA0A-33177EE1D1D3}" dt="2026-10-18T22:54:36.902" v="7036" actId="20577"/>
        <pc:sldMkLst>
          <pc:docMk/>
          <pc:sldMk cId="3218542733" sldId="261"/>
        </pc:sldMkLst>
        <pc:spChg chg="mod">
          <ac:chgData name="justin madison" userId="79b333eaa59e46cf" providerId="LiveId" clId="{03CA0B1C-680E-4381-AA0A-33177EE1D1D3}" dt="2026-10-18T21:47:05.679" v="4155" actId="14100"/>
          <ac:spMkLst>
            <pc:docMk/>
            <pc:sldMk cId="3218542733" sldId="261"/>
            <ac:spMk id="2" creationId="{BBD1DACF-B6B9-23C8-0F84-E93EF5A4B280}"/>
          </ac:spMkLst>
        </pc:spChg>
        <pc:spChg chg="mod">
          <ac:chgData name="justin madison" userId="79b333eaa59e46cf" providerId="LiveId" clId="{03CA0B1C-680E-4381-AA0A-33177EE1D1D3}" dt="2026-10-18T22:54:36.902" v="7036" actId="20577"/>
          <ac:spMkLst>
            <pc:docMk/>
            <pc:sldMk cId="3218542733" sldId="261"/>
            <ac:spMk id="3" creationId="{1859ADA9-5BF8-ADA2-B7B6-419BF6D7389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33B33E3-55D8-478E-A8B8-B71B8D0BF0CD}"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E3F6E1-A8E9-4BF6-BACE-7D6C0DF87259}" type="slidenum">
              <a:rPr lang="en-US" smtClean="0"/>
              <a:t>‹#›</a:t>
            </a:fld>
            <a:endParaRPr lang="en-US"/>
          </a:p>
        </p:txBody>
      </p:sp>
    </p:spTree>
    <p:extLst>
      <p:ext uri="{BB962C8B-B14F-4D97-AF65-F5344CB8AC3E}">
        <p14:creationId xmlns:p14="http://schemas.microsoft.com/office/powerpoint/2010/main" val="13575928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633B33E3-55D8-478E-A8B8-B71B8D0BF0CD}"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E3F6E1-A8E9-4BF6-BACE-7D6C0DF87259}" type="slidenum">
              <a:rPr lang="en-US" smtClean="0"/>
              <a:t>‹#›</a:t>
            </a:fld>
            <a:endParaRPr lang="en-US"/>
          </a:p>
        </p:txBody>
      </p:sp>
    </p:spTree>
    <p:extLst>
      <p:ext uri="{BB962C8B-B14F-4D97-AF65-F5344CB8AC3E}">
        <p14:creationId xmlns:p14="http://schemas.microsoft.com/office/powerpoint/2010/main" val="1421200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3B33E3-55D8-478E-A8B8-B71B8D0BF0CD}"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E3F6E1-A8E9-4BF6-BACE-7D6C0DF87259}" type="slidenum">
              <a:rPr lang="en-US" smtClean="0"/>
              <a:t>‹#›</a:t>
            </a:fld>
            <a:endParaRPr lang="en-US"/>
          </a:p>
        </p:txBody>
      </p:sp>
    </p:spTree>
    <p:extLst>
      <p:ext uri="{BB962C8B-B14F-4D97-AF65-F5344CB8AC3E}">
        <p14:creationId xmlns:p14="http://schemas.microsoft.com/office/powerpoint/2010/main" val="3705661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33B33E3-55D8-478E-A8B8-B71B8D0BF0CD}"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E3F6E1-A8E9-4BF6-BACE-7D6C0DF87259}" type="slidenum">
              <a:rPr lang="en-US" smtClean="0"/>
              <a:t>‹#›</a:t>
            </a:fld>
            <a:endParaRPr lang="en-US"/>
          </a:p>
        </p:txBody>
      </p:sp>
    </p:spTree>
    <p:extLst>
      <p:ext uri="{BB962C8B-B14F-4D97-AF65-F5344CB8AC3E}">
        <p14:creationId xmlns:p14="http://schemas.microsoft.com/office/powerpoint/2010/main" val="197221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33B33E3-55D8-478E-A8B8-B71B8D0BF0CD}" type="datetimeFigureOut">
              <a:rPr lang="en-US" smtClean="0"/>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CE3F6E1-A8E9-4BF6-BACE-7D6C0DF87259}" type="slidenum">
              <a:rPr lang="en-US" smtClean="0"/>
              <a:t>‹#›</a:t>
            </a:fld>
            <a:endParaRPr lang="en-US"/>
          </a:p>
        </p:txBody>
      </p:sp>
    </p:spTree>
    <p:extLst>
      <p:ext uri="{BB962C8B-B14F-4D97-AF65-F5344CB8AC3E}">
        <p14:creationId xmlns:p14="http://schemas.microsoft.com/office/powerpoint/2010/main" val="2189741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633B33E3-55D8-478E-A8B8-B71B8D0BF0CD}" type="datetimeFigureOut">
              <a:rPr lang="en-US" smtClean="0"/>
              <a:t>10/18/2026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1CE3F6E1-A8E9-4BF6-BACE-7D6C0DF87259}" type="slidenum">
              <a:rPr lang="en-US" smtClean="0"/>
              <a:t>‹#›</a:t>
            </a:fld>
            <a:endParaRPr lang="en-US"/>
          </a:p>
        </p:txBody>
      </p:sp>
    </p:spTree>
    <p:extLst>
      <p:ext uri="{BB962C8B-B14F-4D97-AF65-F5344CB8AC3E}">
        <p14:creationId xmlns:p14="http://schemas.microsoft.com/office/powerpoint/2010/main" val="1969806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33B33E3-55D8-478E-A8B8-B71B8D0BF0CD}" type="datetimeFigureOut">
              <a:rPr lang="en-US" smtClean="0"/>
              <a:t>10/18/2026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1CE3F6E1-A8E9-4BF6-BACE-7D6C0DF87259}" type="slidenum">
              <a:rPr lang="en-US" smtClean="0"/>
              <a:t>‹#›</a:t>
            </a:fld>
            <a:endParaRPr lang="en-US"/>
          </a:p>
        </p:txBody>
      </p:sp>
    </p:spTree>
    <p:extLst>
      <p:ext uri="{BB962C8B-B14F-4D97-AF65-F5344CB8AC3E}">
        <p14:creationId xmlns:p14="http://schemas.microsoft.com/office/powerpoint/2010/main" val="1926668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633B33E3-55D8-478E-A8B8-B71B8D0BF0CD}" type="datetimeFigureOut">
              <a:rPr lang="en-US" smtClean="0"/>
              <a:t>10/18/2026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1CE3F6E1-A8E9-4BF6-BACE-7D6C0DF87259}" type="slidenum">
              <a:rPr lang="en-US" smtClean="0"/>
              <a:t>‹#›</a:t>
            </a:fld>
            <a:endParaRPr lang="en-US"/>
          </a:p>
        </p:txBody>
      </p:sp>
    </p:spTree>
    <p:extLst>
      <p:ext uri="{BB962C8B-B14F-4D97-AF65-F5344CB8AC3E}">
        <p14:creationId xmlns:p14="http://schemas.microsoft.com/office/powerpoint/2010/main" val="3044406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3B33E3-55D8-478E-A8B8-B71B8D0BF0CD}"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E3F6E1-A8E9-4BF6-BACE-7D6C0DF87259}" type="slidenum">
              <a:rPr lang="en-US" smtClean="0"/>
              <a:t>‹#›</a:t>
            </a:fld>
            <a:endParaRPr lang="en-US"/>
          </a:p>
        </p:txBody>
      </p:sp>
    </p:spTree>
    <p:extLst>
      <p:ext uri="{BB962C8B-B14F-4D97-AF65-F5344CB8AC3E}">
        <p14:creationId xmlns:p14="http://schemas.microsoft.com/office/powerpoint/2010/main" val="2669359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3B33E3-55D8-478E-A8B8-B71B8D0BF0CD}"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E3F6E1-A8E9-4BF6-BACE-7D6C0DF87259}" type="slidenum">
              <a:rPr lang="en-US" smtClean="0"/>
              <a:t>‹#›</a:t>
            </a:fld>
            <a:endParaRPr lang="en-US"/>
          </a:p>
        </p:txBody>
      </p:sp>
    </p:spTree>
    <p:extLst>
      <p:ext uri="{BB962C8B-B14F-4D97-AF65-F5344CB8AC3E}">
        <p14:creationId xmlns:p14="http://schemas.microsoft.com/office/powerpoint/2010/main" val="4153587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33B33E3-55D8-478E-A8B8-B71B8D0BF0CD}"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E3F6E1-A8E9-4BF6-BACE-7D6C0DF87259}" type="slidenum">
              <a:rPr lang="en-US" smtClean="0"/>
              <a:t>‹#›</a:t>
            </a:fld>
            <a:endParaRPr lang="en-US"/>
          </a:p>
        </p:txBody>
      </p:sp>
    </p:spTree>
    <p:extLst>
      <p:ext uri="{BB962C8B-B14F-4D97-AF65-F5344CB8AC3E}">
        <p14:creationId xmlns:p14="http://schemas.microsoft.com/office/powerpoint/2010/main" val="31753228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33B33E3-55D8-478E-A8B8-B71B8D0BF0CD}"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E3F6E1-A8E9-4BF6-BACE-7D6C0DF87259}"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6644304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3B33E3-55D8-478E-A8B8-B71B8D0BF0CD}"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E3F6E1-A8E9-4BF6-BACE-7D6C0DF87259}" type="slidenum">
              <a:rPr lang="en-US" smtClean="0"/>
              <a:t>‹#›</a:t>
            </a:fld>
            <a:endParaRPr lang="en-US"/>
          </a:p>
        </p:txBody>
      </p:sp>
    </p:spTree>
    <p:extLst>
      <p:ext uri="{BB962C8B-B14F-4D97-AF65-F5344CB8AC3E}">
        <p14:creationId xmlns:p14="http://schemas.microsoft.com/office/powerpoint/2010/main" val="8414039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33B33E3-55D8-478E-A8B8-B71B8D0BF0CD}" type="datetimeFigureOut">
              <a:rPr lang="en-US" smtClean="0"/>
              <a:t>10/18/2026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E3F6E1-A8E9-4BF6-BACE-7D6C0DF87259}" type="slidenum">
              <a:rPr lang="en-US" smtClean="0"/>
              <a:t>‹#›</a:t>
            </a:fld>
            <a:endParaRPr lang="en-US"/>
          </a:p>
        </p:txBody>
      </p:sp>
    </p:spTree>
    <p:extLst>
      <p:ext uri="{BB962C8B-B14F-4D97-AF65-F5344CB8AC3E}">
        <p14:creationId xmlns:p14="http://schemas.microsoft.com/office/powerpoint/2010/main" val="4655284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33B33E3-55D8-478E-A8B8-B71B8D0BF0CD}" type="datetimeFigureOut">
              <a:rPr lang="en-US" smtClean="0"/>
              <a:t>10/18/2026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E3F6E1-A8E9-4BF6-BACE-7D6C0DF87259}" type="slidenum">
              <a:rPr lang="en-US" smtClean="0"/>
              <a:t>‹#›</a:t>
            </a:fld>
            <a:endParaRPr lang="en-US"/>
          </a:p>
        </p:txBody>
      </p:sp>
    </p:spTree>
    <p:extLst>
      <p:ext uri="{BB962C8B-B14F-4D97-AF65-F5344CB8AC3E}">
        <p14:creationId xmlns:p14="http://schemas.microsoft.com/office/powerpoint/2010/main" val="15107934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3B33E3-55D8-478E-A8B8-B71B8D0BF0CD}"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E3F6E1-A8E9-4BF6-BACE-7D6C0DF87259}" type="slidenum">
              <a:rPr lang="en-US" smtClean="0"/>
              <a:t>‹#›</a:t>
            </a:fld>
            <a:endParaRPr lang="en-US"/>
          </a:p>
        </p:txBody>
      </p:sp>
    </p:spTree>
    <p:extLst>
      <p:ext uri="{BB962C8B-B14F-4D97-AF65-F5344CB8AC3E}">
        <p14:creationId xmlns:p14="http://schemas.microsoft.com/office/powerpoint/2010/main" val="33843380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3B33E3-55D8-478E-A8B8-B71B8D0BF0CD}"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E3F6E1-A8E9-4BF6-BACE-7D6C0DF87259}" type="slidenum">
              <a:rPr lang="en-US" smtClean="0"/>
              <a:t>‹#›</a:t>
            </a:fld>
            <a:endParaRPr lang="en-US"/>
          </a:p>
        </p:txBody>
      </p:sp>
    </p:spTree>
    <p:extLst>
      <p:ext uri="{BB962C8B-B14F-4D97-AF65-F5344CB8AC3E}">
        <p14:creationId xmlns:p14="http://schemas.microsoft.com/office/powerpoint/2010/main" val="3897065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33B33E3-55D8-478E-A8B8-B71B8D0BF0CD}" type="datetimeFigureOut">
              <a:rPr lang="en-US" smtClean="0"/>
              <a:t>10/18/2026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1CE3F6E1-A8E9-4BF6-BACE-7D6C0DF87259}" type="slidenum">
              <a:rPr lang="en-US" smtClean="0"/>
              <a:t>‹#›</a:t>
            </a:fld>
            <a:endParaRPr lang="en-US"/>
          </a:p>
        </p:txBody>
      </p:sp>
    </p:spTree>
    <p:extLst>
      <p:ext uri="{BB962C8B-B14F-4D97-AF65-F5344CB8AC3E}">
        <p14:creationId xmlns:p14="http://schemas.microsoft.com/office/powerpoint/2010/main" val="3251677095"/>
      </p:ext>
    </p:extLst>
  </p:cSld>
  <p:clrMap bg1="dk1" tx1="lt1" bg2="dk2" tx2="lt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research.ebsco.com/c/ix3dnl/viewer/pdf/iunbe5pdiv" TargetMode="External"/><Relationship Id="rId2" Type="http://schemas.openxmlformats.org/officeDocument/2006/relationships/hyperlink" Target="https://research.ebsco.com/c/cyb354/ebook-viewer/pdf/tbfxle5mbr/page/pp_38" TargetMode="External"/><Relationship Id="rId1" Type="http://schemas.openxmlformats.org/officeDocument/2006/relationships/slideLayout" Target="../slideLayouts/slideLayout2.xml"/><Relationship Id="rId6" Type="http://schemas.openxmlformats.org/officeDocument/2006/relationships/hyperlink" Target="https://www.tutorialspoint.com/sdlc/sdlc_quick_guide.htm" TargetMode="External"/><Relationship Id="rId5" Type="http://schemas.openxmlformats.org/officeDocument/2006/relationships/hyperlink" Target="https://agilelearninglabs.com/resources/scrum-introduction/" TargetMode="External"/><Relationship Id="rId4" Type="http://schemas.openxmlformats.org/officeDocument/2006/relationships/hyperlink" Target="https://www.infoq.com/articles/great-scrum-tea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6CA3A-5E30-762F-F691-9F62B1C4BA96}"/>
              </a:ext>
            </a:extLst>
          </p:cNvPr>
          <p:cNvSpPr>
            <a:spLocks noGrp="1"/>
          </p:cNvSpPr>
          <p:nvPr>
            <p:ph type="ctrTitle"/>
          </p:nvPr>
        </p:nvSpPr>
        <p:spPr/>
        <p:txBody>
          <a:bodyPr/>
          <a:lstStyle/>
          <a:p>
            <a:r>
              <a:rPr lang="en-US" dirty="0"/>
              <a:t>Agile Framework</a:t>
            </a:r>
          </a:p>
        </p:txBody>
      </p:sp>
      <p:sp>
        <p:nvSpPr>
          <p:cNvPr id="3" name="Subtitle 2">
            <a:extLst>
              <a:ext uri="{FF2B5EF4-FFF2-40B4-BE49-F238E27FC236}">
                <a16:creationId xmlns:a16="http://schemas.microsoft.com/office/drawing/2014/main" id="{6F297B2B-9EAF-3711-69B3-B2979FD2FC5B}"/>
              </a:ext>
            </a:extLst>
          </p:cNvPr>
          <p:cNvSpPr>
            <a:spLocks noGrp="1"/>
          </p:cNvSpPr>
          <p:nvPr>
            <p:ph type="subTitle" idx="1"/>
          </p:nvPr>
        </p:nvSpPr>
        <p:spPr/>
        <p:txBody>
          <a:bodyPr/>
          <a:lstStyle/>
          <a:p>
            <a:r>
              <a:rPr lang="en-US" dirty="0"/>
              <a:t>By Justin Madison</a:t>
            </a:r>
          </a:p>
        </p:txBody>
      </p:sp>
    </p:spTree>
    <p:extLst>
      <p:ext uri="{BB962C8B-B14F-4D97-AF65-F5344CB8AC3E}">
        <p14:creationId xmlns:p14="http://schemas.microsoft.com/office/powerpoint/2010/main" val="54705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075C3-3172-EFCA-790D-2120320F795A}"/>
              </a:ext>
            </a:extLst>
          </p:cNvPr>
          <p:cNvSpPr>
            <a:spLocks noGrp="1"/>
          </p:cNvSpPr>
          <p:nvPr>
            <p:ph type="title"/>
          </p:nvPr>
        </p:nvSpPr>
        <p:spPr>
          <a:xfrm>
            <a:off x="646111" y="452718"/>
            <a:ext cx="9404723" cy="927349"/>
          </a:xfrm>
        </p:spPr>
        <p:txBody>
          <a:bodyPr/>
          <a:lstStyle/>
          <a:p>
            <a:r>
              <a:rPr lang="en-US" dirty="0"/>
              <a:t>Explaining Agile Roles:</a:t>
            </a:r>
          </a:p>
        </p:txBody>
      </p:sp>
      <p:sp>
        <p:nvSpPr>
          <p:cNvPr id="3" name="Content Placeholder 2">
            <a:extLst>
              <a:ext uri="{FF2B5EF4-FFF2-40B4-BE49-F238E27FC236}">
                <a16:creationId xmlns:a16="http://schemas.microsoft.com/office/drawing/2014/main" id="{AAEEFE47-932E-E61E-FDB4-B0E10B3FE22D}"/>
              </a:ext>
            </a:extLst>
          </p:cNvPr>
          <p:cNvSpPr>
            <a:spLocks noGrp="1"/>
          </p:cNvSpPr>
          <p:nvPr>
            <p:ph idx="1"/>
          </p:nvPr>
        </p:nvSpPr>
        <p:spPr>
          <a:xfrm>
            <a:off x="645130" y="1380067"/>
            <a:ext cx="9404723" cy="4868332"/>
          </a:xfrm>
        </p:spPr>
        <p:txBody>
          <a:bodyPr>
            <a:normAutofit fontScale="92500" lnSpcReduction="10000"/>
          </a:bodyPr>
          <a:lstStyle/>
          <a:p>
            <a:r>
              <a:rPr lang="en-US" dirty="0"/>
              <a:t>Product Owner:</a:t>
            </a:r>
          </a:p>
          <a:p>
            <a:pPr lvl="1"/>
            <a:r>
              <a:rPr lang="en-US" sz="1600" dirty="0"/>
              <a:t>Responsible for owning and managing the product backlog.</a:t>
            </a:r>
          </a:p>
          <a:p>
            <a:pPr lvl="1"/>
            <a:r>
              <a:rPr lang="en-US" sz="1600" dirty="0"/>
              <a:t>Maximizes product value. </a:t>
            </a:r>
          </a:p>
          <a:p>
            <a:pPr lvl="1"/>
            <a:r>
              <a:rPr lang="en-US" sz="1600" dirty="0"/>
              <a:t>Represents and projects client perspective within product development. </a:t>
            </a:r>
          </a:p>
          <a:p>
            <a:r>
              <a:rPr lang="en-US" dirty="0"/>
              <a:t>Scrum Master:</a:t>
            </a:r>
          </a:p>
          <a:p>
            <a:pPr lvl="1"/>
            <a:r>
              <a:rPr lang="en-US" sz="1600" dirty="0"/>
              <a:t>Works as a servant leader to ensure members adhere to the Scrum Theory.</a:t>
            </a:r>
          </a:p>
          <a:p>
            <a:pPr lvl="1"/>
            <a:r>
              <a:rPr lang="en-US" sz="1600" dirty="0"/>
              <a:t>Helps limit and remove distractions and roadblocks. </a:t>
            </a:r>
          </a:p>
          <a:p>
            <a:pPr lvl="1"/>
            <a:r>
              <a:rPr lang="en-US" sz="1600" dirty="0"/>
              <a:t>Serves as a coach and facilitator for the Scrum Team.</a:t>
            </a:r>
          </a:p>
          <a:p>
            <a:r>
              <a:rPr lang="en-US" dirty="0"/>
              <a:t>Tester:</a:t>
            </a:r>
          </a:p>
          <a:p>
            <a:pPr lvl="1"/>
            <a:r>
              <a:rPr lang="en-US" sz="1600" dirty="0"/>
              <a:t>Creates test cases to audit completed code for functionality. </a:t>
            </a:r>
          </a:p>
          <a:p>
            <a:pPr lvl="1"/>
            <a:r>
              <a:rPr lang="en-US" sz="1600" dirty="0"/>
              <a:t>Makes sure the vision and expectations are met. </a:t>
            </a:r>
          </a:p>
          <a:p>
            <a:r>
              <a:rPr lang="en-US" dirty="0"/>
              <a:t>Developer:</a:t>
            </a:r>
          </a:p>
          <a:p>
            <a:pPr lvl="1"/>
            <a:r>
              <a:rPr lang="en-US" sz="1600" dirty="0"/>
              <a:t>Develops the product in incremental phases. </a:t>
            </a:r>
          </a:p>
          <a:p>
            <a:pPr lvl="1"/>
            <a:r>
              <a:rPr lang="en-US" sz="1600" dirty="0"/>
              <a:t>Own the technical and physical delivery of the product. </a:t>
            </a:r>
          </a:p>
          <a:p>
            <a:pPr marL="0" indent="0">
              <a:buNone/>
            </a:pPr>
            <a:endParaRPr lang="en-US" dirty="0"/>
          </a:p>
        </p:txBody>
      </p:sp>
    </p:spTree>
    <p:extLst>
      <p:ext uri="{BB962C8B-B14F-4D97-AF65-F5344CB8AC3E}">
        <p14:creationId xmlns:p14="http://schemas.microsoft.com/office/powerpoint/2010/main" val="2555324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998A2-9B22-40CA-CE97-7EBBA1524E6E}"/>
              </a:ext>
            </a:extLst>
          </p:cNvPr>
          <p:cNvSpPr>
            <a:spLocks noGrp="1"/>
          </p:cNvSpPr>
          <p:nvPr>
            <p:ph type="title"/>
          </p:nvPr>
        </p:nvSpPr>
        <p:spPr>
          <a:xfrm>
            <a:off x="646111" y="452718"/>
            <a:ext cx="9404723" cy="800349"/>
          </a:xfrm>
        </p:spPr>
        <p:txBody>
          <a:bodyPr/>
          <a:lstStyle/>
          <a:p>
            <a:r>
              <a:rPr lang="en-US" dirty="0"/>
              <a:t>Agile Phases:</a:t>
            </a:r>
          </a:p>
        </p:txBody>
      </p:sp>
      <p:sp>
        <p:nvSpPr>
          <p:cNvPr id="3" name="Content Placeholder 2">
            <a:extLst>
              <a:ext uri="{FF2B5EF4-FFF2-40B4-BE49-F238E27FC236}">
                <a16:creationId xmlns:a16="http://schemas.microsoft.com/office/drawing/2014/main" id="{B3225C14-0E5F-D561-33B4-2EE5B120F613}"/>
              </a:ext>
            </a:extLst>
          </p:cNvPr>
          <p:cNvSpPr>
            <a:spLocks noGrp="1"/>
          </p:cNvSpPr>
          <p:nvPr>
            <p:ph idx="1"/>
          </p:nvPr>
        </p:nvSpPr>
        <p:spPr>
          <a:xfrm>
            <a:off x="646111" y="1253067"/>
            <a:ext cx="10487556" cy="5520265"/>
          </a:xfrm>
        </p:spPr>
        <p:txBody>
          <a:bodyPr>
            <a:normAutofit fontScale="62500" lnSpcReduction="20000"/>
          </a:bodyPr>
          <a:lstStyle/>
          <a:p>
            <a:r>
              <a:rPr lang="en-US" sz="2200" dirty="0"/>
              <a:t>Planning:</a:t>
            </a:r>
          </a:p>
          <a:p>
            <a:pPr lvl="1"/>
            <a:r>
              <a:rPr lang="en-US" dirty="0"/>
              <a:t>Creates a base plan for the project and checks for project feasibility.</a:t>
            </a:r>
          </a:p>
          <a:p>
            <a:pPr lvl="1"/>
            <a:r>
              <a:rPr lang="en-US" dirty="0"/>
              <a:t>Converts user feedback into high level user stories.</a:t>
            </a:r>
          </a:p>
          <a:p>
            <a:pPr lvl="1"/>
            <a:r>
              <a:rPr lang="en-US" dirty="0"/>
              <a:t>Establishes the team charter with rules and expectations prior to project start.</a:t>
            </a:r>
            <a:endParaRPr lang="en-US" sz="1900" dirty="0"/>
          </a:p>
          <a:p>
            <a:r>
              <a:rPr lang="en-US" sz="2200" dirty="0"/>
              <a:t>Define and Design:</a:t>
            </a:r>
          </a:p>
          <a:p>
            <a:pPr lvl="1"/>
            <a:r>
              <a:rPr lang="en-US" sz="1900" dirty="0"/>
              <a:t>Collaborate continuously with Product Owner to refine user stories based on customer feedback</a:t>
            </a:r>
          </a:p>
          <a:p>
            <a:pPr lvl="1"/>
            <a:r>
              <a:rPr lang="en-US" sz="1900" dirty="0"/>
              <a:t>Design portions of the program incrementally based on the requirements. </a:t>
            </a:r>
          </a:p>
          <a:p>
            <a:pPr lvl="2"/>
            <a:r>
              <a:rPr lang="en-US" sz="1800" dirty="0"/>
              <a:t>Prevents over working product that may change. Builds just enough for the next sprint.</a:t>
            </a:r>
          </a:p>
          <a:p>
            <a:r>
              <a:rPr lang="en-US" sz="2200" dirty="0"/>
              <a:t>Build and Develop:</a:t>
            </a:r>
          </a:p>
          <a:p>
            <a:pPr lvl="1"/>
            <a:r>
              <a:rPr lang="en-US" sz="1900" dirty="0"/>
              <a:t>Write and build short incremental working code by the end of each sprint. </a:t>
            </a:r>
          </a:p>
          <a:p>
            <a:pPr lvl="1"/>
            <a:r>
              <a:rPr lang="en-US" sz="1900" dirty="0"/>
              <a:t>Gives the customer something to view and provide feedback on each sprint. </a:t>
            </a:r>
          </a:p>
          <a:p>
            <a:pPr lvl="1"/>
            <a:r>
              <a:rPr lang="en-US" sz="1900" dirty="0"/>
              <a:t>Refines the product incrementally based on sprint feedback. </a:t>
            </a:r>
          </a:p>
          <a:p>
            <a:r>
              <a:rPr lang="en-US" sz="2200" dirty="0"/>
              <a:t>Testing:</a:t>
            </a:r>
          </a:p>
          <a:p>
            <a:pPr lvl="1"/>
            <a:r>
              <a:rPr lang="en-US" sz="1900" dirty="0"/>
              <a:t>Tests the working code against test cases based on expectations and acceptance criteria. </a:t>
            </a:r>
          </a:p>
          <a:p>
            <a:pPr lvl="1"/>
            <a:r>
              <a:rPr lang="en-US" sz="1900" dirty="0"/>
              <a:t>Works continuously with developers to ensure bugs and issues are caught early on. </a:t>
            </a:r>
          </a:p>
          <a:p>
            <a:pPr lvl="1"/>
            <a:r>
              <a:rPr lang="en-US" sz="1900" dirty="0"/>
              <a:t>Continues to update test cases based on changing priorities and requirements. </a:t>
            </a:r>
          </a:p>
          <a:p>
            <a:r>
              <a:rPr lang="en-US" sz="2200" dirty="0"/>
              <a:t>Deployment:</a:t>
            </a:r>
          </a:p>
          <a:p>
            <a:pPr lvl="1"/>
            <a:r>
              <a:rPr lang="en-US" sz="1900" dirty="0"/>
              <a:t>Releases the tested usable code increments to consumers to test and provide feedback. </a:t>
            </a:r>
          </a:p>
          <a:p>
            <a:pPr lvl="1"/>
            <a:r>
              <a:rPr lang="en-US" sz="1900" dirty="0"/>
              <a:t>Promotes continuous improvement and feedback loops. </a:t>
            </a:r>
          </a:p>
          <a:p>
            <a:pPr lvl="1"/>
            <a:r>
              <a:rPr lang="en-US" sz="1900" dirty="0"/>
              <a:t>Enables continuous value throughout the product lifecycle.</a:t>
            </a:r>
          </a:p>
          <a:p>
            <a:pPr lvl="1"/>
            <a:endParaRPr lang="en-US" sz="1900" dirty="0"/>
          </a:p>
        </p:txBody>
      </p:sp>
    </p:spTree>
    <p:extLst>
      <p:ext uri="{BB962C8B-B14F-4D97-AF65-F5344CB8AC3E}">
        <p14:creationId xmlns:p14="http://schemas.microsoft.com/office/powerpoint/2010/main" val="2257424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73402-D1CA-5D23-074F-85D47C0CC999}"/>
              </a:ext>
            </a:extLst>
          </p:cNvPr>
          <p:cNvSpPr>
            <a:spLocks noGrp="1"/>
          </p:cNvSpPr>
          <p:nvPr>
            <p:ph type="title"/>
          </p:nvPr>
        </p:nvSpPr>
        <p:spPr/>
        <p:txBody>
          <a:bodyPr/>
          <a:lstStyle/>
          <a:p>
            <a:r>
              <a:rPr lang="en-US" dirty="0"/>
              <a:t>The Waterfall Model:</a:t>
            </a:r>
          </a:p>
        </p:txBody>
      </p:sp>
      <p:sp>
        <p:nvSpPr>
          <p:cNvPr id="3" name="Content Placeholder 2">
            <a:extLst>
              <a:ext uri="{FF2B5EF4-FFF2-40B4-BE49-F238E27FC236}">
                <a16:creationId xmlns:a16="http://schemas.microsoft.com/office/drawing/2014/main" id="{BC77B7B4-F1F6-BD3D-718A-2061E45A41AD}"/>
              </a:ext>
            </a:extLst>
          </p:cNvPr>
          <p:cNvSpPr>
            <a:spLocks noGrp="1"/>
          </p:cNvSpPr>
          <p:nvPr>
            <p:ph idx="1"/>
          </p:nvPr>
        </p:nvSpPr>
        <p:spPr>
          <a:xfrm>
            <a:off x="645131" y="1354668"/>
            <a:ext cx="10437735" cy="4893732"/>
          </a:xfrm>
        </p:spPr>
        <p:txBody>
          <a:bodyPr>
            <a:normAutofit fontScale="77500" lnSpcReduction="20000"/>
          </a:bodyPr>
          <a:lstStyle/>
          <a:p>
            <a:r>
              <a:rPr lang="en-US" dirty="0"/>
              <a:t>This process would be vastly different had the waterfall method been implemented instead of the Agile-Scrum approach. Some of the Waterfall characteristics include:</a:t>
            </a:r>
          </a:p>
          <a:p>
            <a:pPr lvl="1"/>
            <a:r>
              <a:rPr lang="en-US" dirty="0"/>
              <a:t>Extreme planning and meeting overhead prior to start.</a:t>
            </a:r>
          </a:p>
          <a:p>
            <a:pPr lvl="1"/>
            <a:r>
              <a:rPr lang="en-US" dirty="0"/>
              <a:t>Tiered sequential phase development. Once you move on you don’t go back. </a:t>
            </a:r>
          </a:p>
          <a:p>
            <a:pPr lvl="1"/>
            <a:r>
              <a:rPr lang="en-US" dirty="0"/>
              <a:t>Feedback received at the end of development.</a:t>
            </a:r>
          </a:p>
          <a:p>
            <a:r>
              <a:rPr lang="en-US" dirty="0"/>
              <a:t>In this project we saw changes from consumer feedback and an update rolled out by the Product Owner to adjust the user interface to match that of a PowerPoint instead of a generic list-based website. </a:t>
            </a:r>
          </a:p>
          <a:p>
            <a:pPr lvl="1"/>
            <a:r>
              <a:rPr lang="en-US" dirty="0"/>
              <a:t>In the Waterfall:</a:t>
            </a:r>
          </a:p>
          <a:p>
            <a:pPr lvl="2"/>
            <a:r>
              <a:rPr lang="en-US" dirty="0"/>
              <a:t>Changes would require a complete halt to the development process.</a:t>
            </a:r>
          </a:p>
          <a:p>
            <a:pPr lvl="2"/>
            <a:r>
              <a:rPr lang="en-US" dirty="0"/>
              <a:t>Strict change management would go into place to approve going back on a completed phase to make corrections.</a:t>
            </a:r>
          </a:p>
          <a:p>
            <a:pPr lvl="2"/>
            <a:r>
              <a:rPr lang="en-US" dirty="0"/>
              <a:t>Budget/timeline extensions would need to be approved.</a:t>
            </a:r>
          </a:p>
          <a:p>
            <a:pPr lvl="1"/>
            <a:r>
              <a:rPr lang="en-US" dirty="0"/>
              <a:t>In the Agile-Scrum approach:</a:t>
            </a:r>
          </a:p>
          <a:p>
            <a:pPr lvl="2"/>
            <a:r>
              <a:rPr lang="en-US" dirty="0"/>
              <a:t>Issues are caught early on with the continuous testing and feedback loop during each sprint.</a:t>
            </a:r>
          </a:p>
          <a:p>
            <a:pPr lvl="2"/>
            <a:r>
              <a:rPr lang="en-US" dirty="0"/>
              <a:t>Budget and deadline expectations can be maintained. </a:t>
            </a:r>
          </a:p>
          <a:p>
            <a:pPr lvl="2"/>
            <a:r>
              <a:rPr lang="en-US" dirty="0"/>
              <a:t>The Product Owner will re-prioritize items in the product backlog, and the adjustments will occur during the next iteration. </a:t>
            </a:r>
          </a:p>
        </p:txBody>
      </p:sp>
    </p:spTree>
    <p:extLst>
      <p:ext uri="{BB962C8B-B14F-4D97-AF65-F5344CB8AC3E}">
        <p14:creationId xmlns:p14="http://schemas.microsoft.com/office/powerpoint/2010/main" val="1314140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1DACF-B6B9-23C8-0F84-E93EF5A4B280}"/>
              </a:ext>
            </a:extLst>
          </p:cNvPr>
          <p:cNvSpPr>
            <a:spLocks noGrp="1"/>
          </p:cNvSpPr>
          <p:nvPr>
            <p:ph type="title"/>
          </p:nvPr>
        </p:nvSpPr>
        <p:spPr>
          <a:xfrm>
            <a:off x="646111" y="452718"/>
            <a:ext cx="9404723" cy="876549"/>
          </a:xfrm>
        </p:spPr>
        <p:txBody>
          <a:bodyPr/>
          <a:lstStyle/>
          <a:p>
            <a:r>
              <a:rPr lang="en-US" dirty="0"/>
              <a:t>Agile? Or Waterfall?</a:t>
            </a:r>
          </a:p>
        </p:txBody>
      </p:sp>
      <p:sp>
        <p:nvSpPr>
          <p:cNvPr id="3" name="Content Placeholder 2">
            <a:extLst>
              <a:ext uri="{FF2B5EF4-FFF2-40B4-BE49-F238E27FC236}">
                <a16:creationId xmlns:a16="http://schemas.microsoft.com/office/drawing/2014/main" id="{1859ADA9-5BF8-ADA2-B7B6-419BF6D7389D}"/>
              </a:ext>
            </a:extLst>
          </p:cNvPr>
          <p:cNvSpPr>
            <a:spLocks noGrp="1"/>
          </p:cNvSpPr>
          <p:nvPr>
            <p:ph idx="1"/>
          </p:nvPr>
        </p:nvSpPr>
        <p:spPr>
          <a:xfrm>
            <a:off x="645130" y="1270000"/>
            <a:ext cx="10598603" cy="5588000"/>
          </a:xfrm>
        </p:spPr>
        <p:txBody>
          <a:bodyPr>
            <a:normAutofit fontScale="77500" lnSpcReduction="20000"/>
          </a:bodyPr>
          <a:lstStyle/>
          <a:p>
            <a:r>
              <a:rPr lang="en-US" dirty="0"/>
              <a:t>There are many factors to consider when assessing whether Agile or Waterfall is the best approach in software development. These factors include:</a:t>
            </a:r>
          </a:p>
          <a:p>
            <a:pPr lvl="1"/>
            <a:r>
              <a:rPr lang="en-US" dirty="0"/>
              <a:t>Waterfall should or could be used if:</a:t>
            </a:r>
          </a:p>
          <a:p>
            <a:pPr lvl="2"/>
            <a:r>
              <a:rPr lang="en-US" dirty="0"/>
              <a:t>The project requirements are completely defined and won’t change from the start.</a:t>
            </a:r>
          </a:p>
          <a:p>
            <a:pPr lvl="2"/>
            <a:r>
              <a:rPr lang="en-US" dirty="0"/>
              <a:t>The clients specifically state they don’t want elements to change, or they do not want to participate in frequent reviews or feedback till the end. </a:t>
            </a:r>
          </a:p>
          <a:p>
            <a:pPr lvl="2"/>
            <a:r>
              <a:rPr lang="en-US" dirty="0"/>
              <a:t>The clients want a significant amount of upfront planning documentation. </a:t>
            </a:r>
          </a:p>
          <a:p>
            <a:pPr lvl="3"/>
            <a:r>
              <a:rPr lang="en-US" dirty="0"/>
              <a:t>These attributes were observed in this project due to the strict timeline which requires a certain level of upfront planning and can include additional time for agile adaptive changes. </a:t>
            </a:r>
          </a:p>
          <a:p>
            <a:pPr lvl="1"/>
            <a:r>
              <a:rPr lang="en-US" dirty="0"/>
              <a:t>Agile should or could be used if:</a:t>
            </a:r>
          </a:p>
          <a:p>
            <a:pPr lvl="2"/>
            <a:r>
              <a:rPr lang="en-US" dirty="0"/>
              <a:t>There is little or insufficient upfront knowledge, and the project is expected to change. </a:t>
            </a:r>
          </a:p>
          <a:p>
            <a:pPr lvl="2"/>
            <a:r>
              <a:rPr lang="en-US" dirty="0"/>
              <a:t>The customer wants to be involved in project development. </a:t>
            </a:r>
          </a:p>
          <a:p>
            <a:pPr lvl="2"/>
            <a:r>
              <a:rPr lang="en-US" dirty="0"/>
              <a:t>There is a certain high level of risk involved in the program. </a:t>
            </a:r>
          </a:p>
          <a:p>
            <a:pPr lvl="3"/>
            <a:r>
              <a:rPr lang="en-US" dirty="0"/>
              <a:t>These attributes were observed in the quick changes that lead the team to be adaptive in our approach specifically with the changes to the slideshow formatting that was communicated by the Product Owner. </a:t>
            </a:r>
          </a:p>
          <a:p>
            <a:pPr lvl="1"/>
            <a:r>
              <a:rPr lang="en-US" dirty="0"/>
              <a:t>The truth is that neither is perfect nor the better option. The ability to utilize and understand both will help a development team truly succeed. If both are used:</a:t>
            </a:r>
          </a:p>
          <a:p>
            <a:pPr lvl="2"/>
            <a:r>
              <a:rPr lang="en-US" dirty="0"/>
              <a:t>A development team can adapt between phases that require highly detailed and meticulous planning in some areas and not others. </a:t>
            </a:r>
          </a:p>
          <a:p>
            <a:pPr lvl="2"/>
            <a:r>
              <a:rPr lang="en-US" dirty="0"/>
              <a:t>A development team can find success when a rapid iterative release is needed with strict guidelines and documentation. </a:t>
            </a:r>
          </a:p>
          <a:p>
            <a:pPr lvl="2"/>
            <a:r>
              <a:rPr lang="en-US" dirty="0"/>
              <a:t>The development team can utilize a structured approach to the base components of a program ensuring they are robust and detail rich, then switch to an adaptive approach to build mechanics, error handling, </a:t>
            </a:r>
            <a:r>
              <a:rPr lang="en-US"/>
              <a:t>and fix bugs</a:t>
            </a:r>
            <a:r>
              <a:rPr lang="en-US" dirty="0"/>
              <a:t>. </a:t>
            </a:r>
          </a:p>
        </p:txBody>
      </p:sp>
    </p:spTree>
    <p:extLst>
      <p:ext uri="{BB962C8B-B14F-4D97-AF65-F5344CB8AC3E}">
        <p14:creationId xmlns:p14="http://schemas.microsoft.com/office/powerpoint/2010/main" val="3218542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467B0-4DCC-FC27-DBB8-F0E0955E483D}"/>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04C447CD-511D-40AE-54C7-AF5785BAAAEE}"/>
              </a:ext>
            </a:extLst>
          </p:cNvPr>
          <p:cNvSpPr>
            <a:spLocks noGrp="1"/>
          </p:cNvSpPr>
          <p:nvPr>
            <p:ph idx="1"/>
          </p:nvPr>
        </p:nvSpPr>
        <p:spPr/>
        <p:txBody>
          <a:bodyPr>
            <a:normAutofit fontScale="92500" lnSpcReduction="20000"/>
          </a:bodyPr>
          <a:lstStyle/>
          <a:p>
            <a:r>
              <a:rPr lang="en-US" dirty="0"/>
              <a:t>Charles G. Cobb. (2015). </a:t>
            </a:r>
            <a:r>
              <a:rPr lang="en-US" i="1" dirty="0"/>
              <a:t>The project manager’s guide to mastering Agile : Principles and practices for an adaptive approach</a:t>
            </a:r>
            <a:r>
              <a:rPr lang="en-US" dirty="0"/>
              <a:t>. Wiley. </a:t>
            </a:r>
            <a:r>
              <a:rPr lang="en-US" dirty="0">
                <a:hlinkClick r:id="rId2"/>
              </a:rPr>
              <a:t>The Project Manager's Guide to Mastering Agile : Principles and Practices for an Adaptive Approach – EBSCO</a:t>
            </a:r>
            <a:endParaRPr lang="en-US" dirty="0"/>
          </a:p>
          <a:p>
            <a:r>
              <a:rPr lang="en-US" dirty="0"/>
              <a:t>Nieto-Rodriguez, A. (2023). It’s time to end the battle between Waterfall and Agile. </a:t>
            </a:r>
            <a:r>
              <a:rPr lang="en-US" i="1" dirty="0"/>
              <a:t>Harvard Business Review Digital Articles</a:t>
            </a:r>
            <a:r>
              <a:rPr lang="en-US" dirty="0"/>
              <a:t>, 1–11. </a:t>
            </a:r>
            <a:r>
              <a:rPr lang="en-US" dirty="0">
                <a:hlinkClick r:id="rId3"/>
              </a:rPr>
              <a:t>It's Time to End the Battle Between Waterfall and Agile. - EBSCO</a:t>
            </a:r>
            <a:endParaRPr lang="en-US" dirty="0"/>
          </a:p>
          <a:p>
            <a:r>
              <a:rPr lang="en-US" dirty="0"/>
              <a:t>Overeem, B. (2016, April 15). </a:t>
            </a:r>
            <a:r>
              <a:rPr lang="en-US" i="1" dirty="0"/>
              <a:t>Characteristics of a great Scrum team</a:t>
            </a:r>
            <a:r>
              <a:rPr lang="en-US" dirty="0"/>
              <a:t>. </a:t>
            </a:r>
            <a:r>
              <a:rPr lang="en-US" dirty="0" err="1"/>
              <a:t>InfoQ</a:t>
            </a:r>
            <a:r>
              <a:rPr lang="en-US" dirty="0"/>
              <a:t>. </a:t>
            </a:r>
            <a:r>
              <a:rPr lang="en-US" u="sng" dirty="0">
                <a:hlinkClick r:id="rId4"/>
              </a:rPr>
              <a:t>https://www.infoq.com/articles/great-scrum-team/</a:t>
            </a:r>
            <a:endParaRPr lang="en-US" u="sng" dirty="0"/>
          </a:p>
          <a:p>
            <a:r>
              <a:rPr lang="en-US" dirty="0"/>
              <a:t>Sims, C., &amp; Johnson, H. L. (n.d.). </a:t>
            </a:r>
            <a:r>
              <a:rPr lang="en-US" i="1" dirty="0"/>
              <a:t>Scrum: A breathtakingly brief and agile introduction</a:t>
            </a:r>
            <a:r>
              <a:rPr lang="en-US" dirty="0"/>
              <a:t>. Agile Learning Labs. </a:t>
            </a:r>
            <a:r>
              <a:rPr lang="en-US" u="sng" dirty="0">
                <a:hlinkClick r:id="rId5"/>
              </a:rPr>
              <a:t>https://agilelearninglabs.com/resources/scrum-introduction/</a:t>
            </a:r>
            <a:endParaRPr lang="en-US" u="sng" dirty="0"/>
          </a:p>
          <a:p>
            <a:r>
              <a:rPr lang="en-US" dirty="0"/>
              <a:t>Tutorials Point. (2026). </a:t>
            </a:r>
            <a:r>
              <a:rPr lang="en-US" i="1" dirty="0"/>
              <a:t>SDLC - Quick guide</a:t>
            </a:r>
            <a:r>
              <a:rPr lang="en-US" dirty="0"/>
              <a:t>. </a:t>
            </a:r>
            <a:r>
              <a:rPr lang="en-US" dirty="0">
                <a:hlinkClick r:id="rId6"/>
              </a:rPr>
              <a:t>https://www.tutorialspoint.com/sdlc/sdlc_quick_guide.htm</a:t>
            </a:r>
            <a:endParaRPr lang="en-US" dirty="0"/>
          </a:p>
          <a:p>
            <a:endParaRPr lang="en-US" dirty="0"/>
          </a:p>
        </p:txBody>
      </p:sp>
    </p:spTree>
    <p:extLst>
      <p:ext uri="{BB962C8B-B14F-4D97-AF65-F5344CB8AC3E}">
        <p14:creationId xmlns:p14="http://schemas.microsoft.com/office/powerpoint/2010/main" val="33411805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TM02836342[[fn=Ion]]</Template>
  <TotalTime>155</TotalTime>
  <Words>990</Words>
  <Application>Microsoft Office PowerPoint</Application>
  <PresentationFormat>Widescreen</PresentationFormat>
  <Paragraphs>74</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Century Gothic</vt:lpstr>
      <vt:lpstr>Wingdings 3</vt:lpstr>
      <vt:lpstr>Ion</vt:lpstr>
      <vt:lpstr>Agile Framework</vt:lpstr>
      <vt:lpstr>Explaining Agile Roles:</vt:lpstr>
      <vt:lpstr>Agile Phases:</vt:lpstr>
      <vt:lpstr>The Waterfall Model:</vt:lpstr>
      <vt:lpstr>Agile? Or Waterfall?</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justin madison</dc:creator>
  <cp:lastModifiedBy>justin madison</cp:lastModifiedBy>
  <cp:revision>1</cp:revision>
  <dcterms:created xsi:type="dcterms:W3CDTF">2026-10-18T20:19:21Z</dcterms:created>
  <dcterms:modified xsi:type="dcterms:W3CDTF">2026-10-18T22:54:43Z</dcterms:modified>
</cp:coreProperties>
</file>